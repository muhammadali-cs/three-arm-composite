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857"/>
                </a:solidFill>
              </a:rPr>
              <a:t>When does modelling the intermediate help?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B6CB0"/>
                </a:solidFill>
              </a:rPr>
              <a:t>Composite vs Direct, with both surrogates fitting their own hyperparameters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F6B"/>
                </a:solidFill>
              </a:rPr>
              <a:t>22 outer maps × 4 function draws × 5 initial designs, 45 evaluations each.
h drawn from Matérn-5/2, BoTorch's default kernel, so both surrogates are correctly specified about 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857"/>
                </a:solidFill>
              </a:rPr>
              <a:t>Four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F6B"/>
                </a:solidFill>
              </a:rPr>
              <a:t>in order of how much they change the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857"/>
                </a:solidFill>
              </a:rPr>
              <a:t>•  1.  The bijective-case advantage was an artefact of the setup.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46504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55F6B"/>
                </a:solidFill>
              </a:rPr>
              <a:t>Composite previously held the generator's true kernel while Direct estimated one, and h was RBF while both assumed Matérn. On identity the gain fell from +0.409 to +0.087 ± 0.155.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5856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857"/>
                </a:solidFill>
              </a:rPr>
              <a:t>•  2.  With that fixed, bijectivity does predict the gain.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7063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55F6B"/>
                </a:solidFill>
              </a:rPr>
              <a:t>All 11 non-bijective maps gain, every one significant. None of the 5 bijective maps 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82696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857"/>
                </a:solidFill>
              </a:rPr>
              <a:t>•  3.  But information is not the mechanism.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947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55F6B"/>
                </a:solidFill>
              </a:rPr>
              <a:t>n̄ is uncorrelated with the size of the gain (r = −0.12). Flatness of g at its own optimum predicts it (r = +0.78).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306824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857"/>
                </a:solidFill>
              </a:rPr>
              <a:t>•  4.  And none of the magnitudes survive two objectives.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1888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55F6B"/>
                </a:solidFill>
              </a:rPr>
              <a:t>The same 17 maps under hypervolume give gains uncorrelated with their single-objective ones (r = −0.19), and the plateau measure stops working (r = −0.36). The bijective split still shows, weakly.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857"/>
                </a:solidFill>
              </a:rPr>
              <a:t>The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F6B"/>
                </a:solidFill>
              </a:rPr>
              <a:t>f(x) = g(h(x)),   x ∈ [0,1]⁶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37360"/>
          <a:ext cx="10515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57200">
                <a:tc>
                  <a:txBody>
                    <a:bodyPr/>
                    <a:lstStyle/>
                    <a:p>
                      <a:pPr algn="l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</a:rPr>
                        <a:t>Observes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</a:rPr>
                        <a:t>Models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</a:rPr>
                        <a:t>Predicts f by</a:t>
                      </a:r>
                    </a:p>
                  </a:txBody>
                  <a:tcPr marT="18000" marB="18000"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3857"/>
                          </a:solidFill>
                        </a:rPr>
                        <a:t>Direct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3857"/>
                          </a:solidFill>
                        </a:rPr>
                        <a:t>f(xᵢ) only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3857"/>
                          </a:solidFill>
                        </a:rPr>
                        <a:t>a GP on f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3857"/>
                          </a:solidFill>
                        </a:rPr>
                        <a:t>reading off that GP</a:t>
                      </a:r>
                    </a:p>
                  </a:txBody>
                  <a:tcPr marT="18000" marB="18000"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3857"/>
                          </a:solidFill>
                        </a:rPr>
                        <a:t>Composite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3857"/>
                          </a:solidFill>
                        </a:rPr>
                        <a:t>h(xᵢ)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3857"/>
                          </a:solidFill>
                        </a:rPr>
                        <a:t>a GP on each hⱼ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3857"/>
                          </a:solidFill>
                        </a:rPr>
                        <a:t>sampling h, applying g</a:t>
                      </a:r>
                    </a:p>
                  </a:txBody>
                  <a:tcPr marT="18000" marB="18000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5661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55F6B"/>
                </a:solidFill>
              </a:rPr>
              <a:t>•  Same inputs, same budget, same initial design, same acquisition function.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133087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857"/>
                </a:solidFill>
              </a:rPr>
              <a:t>•  Both fit their own kernel hyperparameters by maximum likelihood — this is what changed.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700016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55F6B"/>
                </a:solidFill>
              </a:rPr>
              <a:t>•  h is a draw from the surrogates' own prior, so Composite's model of h is correct by construction and every difference is attributable to 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857"/>
                </a:solidFill>
              </a:rPr>
              <a:t>What is excluded, and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F6B"/>
                </a:solidFill>
              </a:rPr>
              <a:t>stated up front, because it flatters the result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600200"/>
          <a:ext cx="10515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Map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Why excluded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Gain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p</a:t>
                      </a:r>
                    </a:p>
                  </a:txBody>
                  <a:tcPr marT="18000" marB="18000"/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857"/>
                          </a:solidFill>
                        </a:rPr>
                        <a:t>relu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857"/>
                          </a:solidFill>
                        </a:rPr>
                        <a:t>kink at 0, constant below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-0.154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0.881</a:t>
                      </a:r>
                    </a:p>
                  </a:txBody>
                  <a:tcPr marT="18000" marB="18000"/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857"/>
                          </a:solidFill>
                        </a:rPr>
                        <a:t>abs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857"/>
                          </a:solidFill>
                        </a:rPr>
                        <a:t>kink at 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+0.098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0.333</a:t>
                      </a:r>
                    </a:p>
                  </a:txBody>
                  <a:tcPr marT="18000" marB="18000"/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857"/>
                          </a:solidFill>
                        </a:rPr>
                        <a:t>clip_c2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857"/>
                          </a:solidFill>
                        </a:rPr>
                        <a:t>constant outside [−1,1]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-0.003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0.508</a:t>
                      </a:r>
                    </a:p>
                  </a:txBody>
                  <a:tcPr marT="18000" marB="18000"/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857"/>
                          </a:solidFill>
                        </a:rPr>
                        <a:t>cos_w4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857"/>
                          </a:solidFill>
                        </a:rPr>
                        <a:t>deferred — ω·sd(h) ≈ 2.6 rad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-0.014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0.515</a:t>
                      </a:r>
                    </a:p>
                  </a:txBody>
                  <a:tcPr marT="18000" marB="18000"/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857"/>
                          </a:solidFill>
                        </a:rPr>
                        <a:t>root1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857"/>
                          </a:solidFill>
                        </a:rPr>
                        <a:t>affine; identical to identity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+0.087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0.291</a:t>
                      </a:r>
                    </a:p>
                  </a:txBody>
                  <a:tcPr marT="18000" marB="18000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1148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8A2B2B"/>
                </a:solidFill>
              </a:rPr>
              <a:t>The three non-smooth maps are exactly the three non-bijective maps with no effect.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091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F6B"/>
                </a:solidFill>
              </a:rPr>
              <a:t>Excluding them takes the non-bijective group from 11 significant rows out of 13 to 10 out of 10. The criterion is smoothness of g, decided independently of the result — but both versions are reported.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857"/>
                </a:solidFill>
              </a:rPr>
              <a:t>Bijective maps: no effect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F6B"/>
                </a:solidFill>
              </a:rPr>
              <a:t>final log₁₀ regret over 20 runs; gain = Direct − Composite; one-sided paired t-test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80160" y="1828800"/>
          <a:ext cx="9601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  <a:gridCol w="1600200"/>
                <a:gridCol w="16002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Problem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n̄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Direct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Composite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Gain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p</a:t>
                      </a:r>
                    </a:p>
                  </a:txBody>
                  <a:tcPr marT="18000" marB="18000"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3857"/>
                          </a:solidFill>
                        </a:rPr>
                        <a:t>exp_b1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3857"/>
                          </a:solidFill>
                        </a:rPr>
                        <a:t>1.00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3857"/>
                          </a:solidFill>
                        </a:rPr>
                        <a:t>-2.594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3857"/>
                          </a:solidFill>
                        </a:rPr>
                        <a:t>-2.742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3857"/>
                          </a:solidFill>
                        </a:rPr>
                        <a:t>+0.148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3857"/>
                          </a:solidFill>
                        </a:rPr>
                        <a:t>0.109</a:t>
                      </a:r>
                    </a:p>
                  </a:txBody>
                  <a:tcPr marT="18000" marB="18000"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3857"/>
                          </a:solidFill>
                        </a:rPr>
                        <a:t>identity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3857"/>
                          </a:solidFill>
                        </a:rPr>
                        <a:t>1.00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3857"/>
                          </a:solidFill>
                        </a:rPr>
                        <a:t>-1.027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3857"/>
                          </a:solidFill>
                        </a:rPr>
                        <a:t>-1.114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3857"/>
                          </a:solidFill>
                        </a:rPr>
                        <a:t>+0.087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3857"/>
                          </a:solidFill>
                        </a:rPr>
                        <a:t>0.291</a:t>
                      </a:r>
                    </a:p>
                  </a:txBody>
                  <a:tcPr marT="18000" marB="18000"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3857"/>
                          </a:solidFill>
                        </a:rPr>
                        <a:t>mono3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3857"/>
                          </a:solidFill>
                        </a:rPr>
                        <a:t>1.00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3857"/>
                          </a:solidFill>
                        </a:rPr>
                        <a:t>+0.093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3857"/>
                          </a:solidFill>
                        </a:rPr>
                        <a:t>+0.012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3857"/>
                          </a:solidFill>
                        </a:rPr>
                        <a:t>+0.081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3857"/>
                          </a:solidFill>
                        </a:rPr>
                        <a:t>0.235</a:t>
                      </a:r>
                    </a:p>
                  </a:txBody>
                  <a:tcPr marT="18000" marB="18000"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3857"/>
                          </a:solidFill>
                        </a:rPr>
                        <a:t>sinh_b1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3857"/>
                          </a:solidFill>
                        </a:rPr>
                        <a:t>1.00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3857"/>
                          </a:solidFill>
                        </a:rPr>
                        <a:t>+0.245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3857"/>
                          </a:solidFill>
                        </a:rPr>
                        <a:t>+0.164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3857"/>
                          </a:solidFill>
                        </a:rPr>
                        <a:t>+0.081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3857"/>
                          </a:solidFill>
                        </a:rPr>
                        <a:t>0.220</a:t>
                      </a:r>
                    </a:p>
                  </a:txBody>
                  <a:tcPr marT="18000" marB="18000"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3857"/>
                          </a:solidFill>
                        </a:rPr>
                        <a:t>mono5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3857"/>
                          </a:solidFill>
                        </a:rPr>
                        <a:t>1.00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3857"/>
                          </a:solidFill>
                        </a:rPr>
                        <a:t>+0.745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3857"/>
                          </a:solidFill>
                        </a:rPr>
                        <a:t>+0.793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3857"/>
                          </a:solidFill>
                        </a:rPr>
                        <a:t>-0.048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3857"/>
                          </a:solidFill>
                        </a:rPr>
                        <a:t>0.618</a:t>
                      </a:r>
                    </a:p>
                  </a:txBody>
                  <a:tcPr marT="18000" marB="18000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80160" y="512064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55F6B"/>
                </a:solidFill>
              </a:rPr>
              <a:t>All five show nothing. The largest gain in the group is +0.148, and it is not significant.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857"/>
                </a:solidFill>
              </a:rPr>
              <a:t>Non-bijective maps: every row gains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F6B"/>
                </a:solidFill>
              </a:rPr>
              <a:t>same convention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80160" y="1600200"/>
          <a:ext cx="96012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  <a:gridCol w="1600200"/>
                <a:gridCol w="1600200"/>
              </a:tblGrid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Problem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n̄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Direct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Composite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Gain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p</a:t>
                      </a:r>
                    </a:p>
                  </a:txBody>
                  <a:tcPr marT="18000" marB="18000"/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857"/>
                          </a:solidFill>
                        </a:rPr>
                        <a:t>root2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2.00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-4.975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-8.395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+3.420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&lt;0.001</a:t>
                      </a:r>
                    </a:p>
                  </a:txBody>
                  <a:tcPr marT="18000" marB="18000"/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857"/>
                          </a:solidFill>
                        </a:rPr>
                        <a:t>shiftsq_c1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1.95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-5.357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-8.218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+2.861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&lt;0.001</a:t>
                      </a:r>
                    </a:p>
                  </a:txBody>
                  <a:tcPr marT="18000" marB="18000"/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857"/>
                          </a:solidFill>
                        </a:rPr>
                        <a:t>shiftsq_c0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2.00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-5.140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-7.949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+2.809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&lt;0.001</a:t>
                      </a:r>
                    </a:p>
                  </a:txBody>
                  <a:tcPr marT="18000" marB="18000"/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857"/>
                          </a:solidFill>
                        </a:rPr>
                        <a:t>shiftsq_c2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1.37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-5.620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-8.400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+2.780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&lt;0.001</a:t>
                      </a:r>
                    </a:p>
                  </a:txBody>
                  <a:tcPr marT="18000" marB="18000"/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857"/>
                          </a:solidFill>
                        </a:rPr>
                        <a:t>shiftsq_c0.5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2.00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-5.398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-7.811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+2.413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&lt;0.001</a:t>
                      </a:r>
                    </a:p>
                  </a:txBody>
                  <a:tcPr marT="18000" marB="18000"/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8A2B2B"/>
                          </a:solidFill>
                        </a:rPr>
                        <a:t>shiftsq_c3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8A2B2B"/>
                          </a:solidFill>
                        </a:rPr>
                        <a:t>1.01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8A2B2B"/>
                          </a:solidFill>
                        </a:rPr>
                        <a:t>-4.694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8A2B2B"/>
                          </a:solidFill>
                        </a:rPr>
                        <a:t>-7.053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8A2B2B"/>
                          </a:solidFill>
                        </a:rPr>
                        <a:t>+2.359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8A2B2B"/>
                          </a:solidFill>
                        </a:rPr>
                        <a:t>&lt;0.001</a:t>
                      </a:r>
                    </a:p>
                  </a:txBody>
                  <a:tcPr marT="18000" marB="18000"/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857"/>
                          </a:solidFill>
                        </a:rPr>
                        <a:t>root4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3.75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-4.805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-7.131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+2.326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&lt;0.001</a:t>
                      </a:r>
                    </a:p>
                  </a:txBody>
                  <a:tcPr marT="18000" marB="18000"/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857"/>
                          </a:solidFill>
                        </a:rPr>
                        <a:t>cos_w1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2.03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-4.361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-5.794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+1.433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0.004</a:t>
                      </a:r>
                    </a:p>
                  </a:txBody>
                  <a:tcPr marT="18000" marB="18000"/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857"/>
                          </a:solidFill>
                        </a:rPr>
                        <a:t>cos_w2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5.04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-4.938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-5.997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+1.059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0.004</a:t>
                      </a:r>
                    </a:p>
                  </a:txBody>
                  <a:tcPr marT="18000" marB="18000"/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857"/>
                          </a:solidFill>
                        </a:rPr>
                        <a:t>root5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4.50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+1.691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+1.266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+0.424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0.004</a:t>
                      </a:r>
                    </a:p>
                  </a:txBody>
                  <a:tcPr marT="18000" marB="18000"/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857"/>
                          </a:solidFill>
                        </a:rPr>
                        <a:t>root3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2.82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+0.541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+0.279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+0.262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0.030</a:t>
                      </a:r>
                    </a:p>
                  </a:txBody>
                  <a:tcPr marT="18000" marB="18000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80160" y="58978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B6CB0"/>
                </a:solidFill>
              </a:rPr>
              <a:t>mean gain:  non-bijective +2.01   vs   bijective +0.07      shiftsq_c3 (red) has n̄ = 1.01 — a real fold, rarely hit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857"/>
                </a:solidFill>
              </a:rPr>
              <a:t>Convergence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F6B"/>
                </a:solidFill>
              </a:rPr>
              <a:t>median log₁₀ regret, interquartile band; bijective left of the rule</a:t>
            </a:r>
          </a:p>
        </p:txBody>
      </p:sp>
      <p:pic>
        <p:nvPicPr>
          <p:cNvPr id="4" name="Picture 3" descr="bo_curves_mate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360" y="1325880"/>
            <a:ext cx="10390975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857"/>
                </a:solidFill>
              </a:rPr>
              <a:t>The linear control: sum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F6B"/>
                </a:solidFill>
              </a:rPr>
              <a:t>g(h₁,h₂) = h₁ + h₂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555F6B"/>
                </a:solidFill>
              </a:rPr>
              <a:t>•  Observing y = h₁ + h₂ tells you the sum but not the split, so information genuinely IS destroyed.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4203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F3857"/>
                </a:solidFill>
              </a:rPr>
              <a:t>•  Gain: -0.230 ± 0.662  (p = 0.932) — in Direct's favour.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55264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555F6B"/>
                </a:solidFill>
              </a:rPr>
              <a:t>•  A linear combination of Gaussian processes is a Gaussian process, so Direct's model is correctly specified and loses nothing.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68496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F3857"/>
                </a:solidFill>
              </a:rPr>
              <a:t>•  Information loss with no misspecification buys Composite nothing.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857"/>
                </a:solidFill>
              </a:rPr>
              <a:t>n̄ does not order the gain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F6B"/>
                </a:solidFill>
              </a:rPr>
              <a:t>plateau width = fraction of h's reachable range within 10⁻⁶ of min 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63040" y="1600200"/>
          <a:ext cx="92354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8860"/>
                <a:gridCol w="2308860"/>
                <a:gridCol w="2308860"/>
                <a:gridCol w="2308860"/>
              </a:tblGrid>
              <a:tr h="242047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Problem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Bijective?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Plateau width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Gain</a:t>
                      </a:r>
                    </a:p>
                  </a:txBody>
                  <a:tcPr marT="18000" marB="18000"/>
                </a:tc>
              </a:tr>
              <a:tr h="242047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857"/>
                          </a:solidFill>
                        </a:rPr>
                        <a:t>root4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857"/>
                          </a:solidFill>
                        </a:rPr>
                        <a:t>no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3857"/>
                          </a:solidFill>
                        </a:rPr>
                        <a:t>3.5e-03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3857"/>
                          </a:solidFill>
                        </a:rPr>
                        <a:t>+2.326</a:t>
                      </a:r>
                    </a:p>
                  </a:txBody>
                  <a:tcPr marT="18000" marB="18000"/>
                </a:tc>
              </a:tr>
              <a:tr h="242047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857"/>
                          </a:solidFill>
                        </a:rPr>
                        <a:t>shiftsq_c3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857"/>
                          </a:solidFill>
                        </a:rPr>
                        <a:t>no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3857"/>
                          </a:solidFill>
                        </a:rPr>
                        <a:t>1.7e-03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3857"/>
                          </a:solidFill>
                        </a:rPr>
                        <a:t>+2.359</a:t>
                      </a:r>
                    </a:p>
                  </a:txBody>
                  <a:tcPr marT="18000" marB="18000"/>
                </a:tc>
              </a:tr>
              <a:tr h="242047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857"/>
                          </a:solidFill>
                        </a:rPr>
                        <a:t>shiftsq_c2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857"/>
                          </a:solidFill>
                        </a:rPr>
                        <a:t>no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3857"/>
                          </a:solidFill>
                        </a:rPr>
                        <a:t>1.5e-03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3857"/>
                          </a:solidFill>
                        </a:rPr>
                        <a:t>+2.780</a:t>
                      </a:r>
                    </a:p>
                  </a:txBody>
                  <a:tcPr marT="18000" marB="18000"/>
                </a:tc>
              </a:tr>
              <a:tr h="242047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857"/>
                          </a:solidFill>
                        </a:rPr>
                        <a:t>shiftsq_c1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857"/>
                          </a:solidFill>
                        </a:rPr>
                        <a:t>no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3857"/>
                          </a:solidFill>
                        </a:rPr>
                        <a:t>1.2e-03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3857"/>
                          </a:solidFill>
                        </a:rPr>
                        <a:t>+2.861</a:t>
                      </a:r>
                    </a:p>
                  </a:txBody>
                  <a:tcPr marT="18000" marB="18000"/>
                </a:tc>
              </a:tr>
              <a:tr h="242047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857"/>
                          </a:solidFill>
                        </a:rPr>
                        <a:t>shiftsq_c0.5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857"/>
                          </a:solidFill>
                        </a:rPr>
                        <a:t>no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3857"/>
                          </a:solidFill>
                        </a:rPr>
                        <a:t>1.1e-03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3857"/>
                          </a:solidFill>
                        </a:rPr>
                        <a:t>+2.413</a:t>
                      </a:r>
                    </a:p>
                  </a:txBody>
                  <a:tcPr marT="18000" marB="18000"/>
                </a:tc>
              </a:tr>
              <a:tr h="242047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857"/>
                          </a:solidFill>
                        </a:rPr>
                        <a:t>root2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857"/>
                          </a:solidFill>
                        </a:rPr>
                        <a:t>no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3857"/>
                          </a:solidFill>
                        </a:rPr>
                        <a:t>1.0e-03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3857"/>
                          </a:solidFill>
                        </a:rPr>
                        <a:t>+3.420</a:t>
                      </a:r>
                    </a:p>
                  </a:txBody>
                  <a:tcPr marT="18000" marB="18000"/>
                </a:tc>
              </a:tr>
              <a:tr h="242047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857"/>
                          </a:solidFill>
                        </a:rPr>
                        <a:t>shiftsq_c0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857"/>
                          </a:solidFill>
                        </a:rPr>
                        <a:t>no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3857"/>
                          </a:solidFill>
                        </a:rPr>
                        <a:t>1.0e-03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3857"/>
                          </a:solidFill>
                        </a:rPr>
                        <a:t>+2.809</a:t>
                      </a:r>
                    </a:p>
                  </a:txBody>
                  <a:tcPr marT="18000" marB="18000"/>
                </a:tc>
              </a:tr>
              <a:tr h="242047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857"/>
                          </a:solidFill>
                        </a:rPr>
                        <a:t>cos_w1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857"/>
                          </a:solidFill>
                        </a:rPr>
                        <a:t>no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3857"/>
                          </a:solidFill>
                        </a:rPr>
                        <a:t>9.7e-04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3857"/>
                          </a:solidFill>
                        </a:rPr>
                        <a:t>+1.433</a:t>
                      </a:r>
                    </a:p>
                  </a:txBody>
                  <a:tcPr marT="18000" marB="18000"/>
                </a:tc>
              </a:tr>
              <a:tr h="242047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857"/>
                          </a:solidFill>
                        </a:rPr>
                        <a:t>cos_w2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857"/>
                          </a:solidFill>
                        </a:rPr>
                        <a:t>no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3857"/>
                          </a:solidFill>
                        </a:rPr>
                        <a:t>4.8e-04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3857"/>
                          </a:solidFill>
                        </a:rPr>
                        <a:t>+1.059</a:t>
                      </a:r>
                    </a:p>
                  </a:txBody>
                  <a:tcPr marT="18000" marB="18000"/>
                </a:tc>
              </a:tr>
              <a:tr h="242047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857"/>
                          </a:solidFill>
                        </a:rPr>
                        <a:t>exp_b1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857"/>
                          </a:solidFill>
                        </a:rPr>
                        <a:t>yes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3857"/>
                          </a:solidFill>
                        </a:rPr>
                        <a:t>4.6e-04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3857"/>
                          </a:solidFill>
                        </a:rPr>
                        <a:t>+0.148</a:t>
                      </a:r>
                    </a:p>
                  </a:txBody>
                  <a:tcPr marT="18000" marB="18000"/>
                </a:tc>
              </a:tr>
              <a:tr h="242047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857"/>
                          </a:solidFill>
                        </a:rPr>
                        <a:t>identity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857"/>
                          </a:solidFill>
                        </a:rPr>
                        <a:t>yes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3857"/>
                          </a:solidFill>
                        </a:rPr>
                        <a:t>1.5e-06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3857"/>
                          </a:solidFill>
                        </a:rPr>
                        <a:t>+0.087</a:t>
                      </a:r>
                    </a:p>
                  </a:txBody>
                  <a:tcPr marT="18000" marB="18000"/>
                </a:tc>
              </a:tr>
              <a:tr h="242047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857"/>
                          </a:solidFill>
                        </a:rPr>
                        <a:t>mono3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857"/>
                          </a:solidFill>
                        </a:rPr>
                        <a:t>yes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3857"/>
                          </a:solidFill>
                        </a:rPr>
                        <a:t>5.0e-07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3857"/>
                          </a:solidFill>
                        </a:rPr>
                        <a:t>+0.081</a:t>
                      </a:r>
                    </a:p>
                  </a:txBody>
                  <a:tcPr marT="18000" marB="18000"/>
                </a:tc>
              </a:tr>
              <a:tr h="242047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857"/>
                          </a:solidFill>
                        </a:rPr>
                        <a:t>mono5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857"/>
                          </a:solidFill>
                        </a:rPr>
                        <a:t>yes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3857"/>
                          </a:solidFill>
                        </a:rPr>
                        <a:t>5.0e-07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3857"/>
                          </a:solidFill>
                        </a:rPr>
                        <a:t>-0.048</a:t>
                      </a:r>
                    </a:p>
                  </a:txBody>
                  <a:tcPr marT="18000" marB="18000"/>
                </a:tc>
              </a:tr>
              <a:tr h="242047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857"/>
                          </a:solidFill>
                        </a:rPr>
                        <a:t>root3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857"/>
                          </a:solidFill>
                        </a:rPr>
                        <a:t>no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3857"/>
                          </a:solidFill>
                        </a:rPr>
                        <a:t>5.0e-07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3857"/>
                          </a:solidFill>
                        </a:rPr>
                        <a:t>+0.262</a:t>
                      </a:r>
                    </a:p>
                  </a:txBody>
                  <a:tcPr marT="18000" marB="18000"/>
                </a:tc>
              </a:tr>
              <a:tr h="242047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857"/>
                          </a:solidFill>
                        </a:rPr>
                        <a:t>root5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857"/>
                          </a:solidFill>
                        </a:rPr>
                        <a:t>no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3857"/>
                          </a:solidFill>
                        </a:rPr>
                        <a:t>5.0e-07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3857"/>
                          </a:solidFill>
                        </a:rPr>
                        <a:t>+0.424</a:t>
                      </a:r>
                    </a:p>
                  </a:txBody>
                  <a:tcPr marT="18000" marB="18000"/>
                </a:tc>
              </a:tr>
              <a:tr h="242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857"/>
                          </a:solidFill>
                        </a:rPr>
                        <a:t>sinh_b1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3857"/>
                          </a:solidFill>
                        </a:rPr>
                        <a:t>yes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3857"/>
                          </a:solidFill>
                        </a:rPr>
                        <a:t>5.0e-07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F3857"/>
                          </a:solidFill>
                        </a:rPr>
                        <a:t>+0.081</a:t>
                      </a:r>
                    </a:p>
                  </a:txBody>
                  <a:tcPr marT="18000" marB="18000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463040" y="5943600"/>
            <a:ext cx="9235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B6CB0"/>
                </a:solidFill>
              </a:rPr>
              <a:t>plateau present: mean gain +2.16    •    no plateau: +0.15    •    r = +0.78, against −0.12 for n̄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857"/>
                </a:solidFill>
              </a:rPr>
              <a:t>The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55F6B"/>
                </a:solidFill>
              </a:rPr>
              <a:t>•  Near a flat optimum, a small error in h produces a very small error in f — so an accurate model of h converts into enormous depth in objective space.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331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55F6B"/>
                </a:solidFill>
              </a:rPr>
              <a:t>•  Direct, looking at f alone, sees a nearly constant region and cannot resolve within it. Where g is steep at its optimum there is no leverage and both arms do the same 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2B6CB0"/>
                </a:solidFill>
              </a:rPr>
              <a:t>bijective  ⇒  monotone  ⇒  optimum at an endpoint  ⇒  steep there  ⇒  no plateau  ⇒  no gain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2062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857"/>
                </a:solidFill>
              </a:rPr>
              <a:t>•  Bijectivity forecloses a flat optimum. That is why the prediction holds — and it is not an information argument at any step.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828031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55F6B"/>
                </a:solidFill>
              </a:rPr>
              <a:t>•  Bijectivity and the plateau agree on the sign everywhere, so they separate on magnitude: root3 and root5 are non-bijective with high n̄ and no plateau, and gain +0.26 and +0.42 against +2.05 for the maps that have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449824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55F6B"/>
                </a:solidFill>
              </a:rPr>
              <a:t>•  shiftsq_c3 = (h−3)² shows it in reverse: n̄ = 1.01, so it hides almost nothing — but its minimum is exactly at the fold, where g is flat, and it gains +2.36.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857"/>
                </a:solidFill>
              </a:rPr>
              <a:t>Regression error and optimisation gain come apart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F6B"/>
                </a:solidFill>
              </a:rPr>
              <a:t>80 train / 20 held out, 60 fits per map, no optimiser anywhere; RMSE normalised so 1.0 = predicting the mean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920240"/>
          <a:ext cx="99669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3392"/>
                <a:gridCol w="1993392"/>
                <a:gridCol w="1993392"/>
                <a:gridCol w="1993392"/>
                <a:gridCol w="1993392"/>
              </a:tblGrid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Problem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Direct on f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Composite on h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Composite on f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BO gain</a:t>
                      </a:r>
                    </a:p>
                  </a:txBody>
                  <a:tcPr marT="18000" marB="18000"/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3857"/>
                          </a:solidFill>
                        </a:rPr>
                        <a:t>identity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3857"/>
                          </a:solidFill>
                        </a:rPr>
                        <a:t>0.786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3857"/>
                          </a:solidFill>
                        </a:rPr>
                        <a:t>0.786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3857"/>
                          </a:solidFill>
                        </a:rPr>
                        <a:t>0.786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3857"/>
                          </a:solidFill>
                        </a:rPr>
                        <a:t>+0.087</a:t>
                      </a:r>
                    </a:p>
                  </a:txBody>
                  <a:tcPr marT="18000" marB="18000"/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8A2B2B"/>
                          </a:solidFill>
                        </a:rPr>
                        <a:t>mono3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8A2B2B"/>
                          </a:solidFill>
                        </a:rPr>
                        <a:t>1.110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8A2B2B"/>
                          </a:solidFill>
                        </a:rPr>
                        <a:t>0.786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8A2B2B"/>
                          </a:solidFill>
                        </a:rPr>
                        <a:t>0.976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8A2B2B"/>
                          </a:solidFill>
                        </a:rPr>
                        <a:t>+0.081</a:t>
                      </a:r>
                    </a:p>
                  </a:txBody>
                  <a:tcPr marT="18000" marB="18000"/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3857"/>
                          </a:solidFill>
                        </a:rPr>
                        <a:t>mono5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3857"/>
                          </a:solidFill>
                        </a:rPr>
                        <a:t>1.996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3857"/>
                          </a:solidFill>
                        </a:rPr>
                        <a:t>0.786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3857"/>
                          </a:solidFill>
                        </a:rPr>
                        <a:t>1.570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3857"/>
                          </a:solidFill>
                        </a:rPr>
                        <a:t>−0.048</a:t>
                      </a:r>
                    </a:p>
                  </a:txBody>
                  <a:tcPr marT="18000" marB="18000"/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3857"/>
                          </a:solidFill>
                        </a:rPr>
                        <a:t>root3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3857"/>
                          </a:solidFill>
                        </a:rPr>
                        <a:t>1.253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3857"/>
                          </a:solidFill>
                        </a:rPr>
                        <a:t>0.786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3857"/>
                          </a:solidFill>
                        </a:rPr>
                        <a:t>1.086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3857"/>
                          </a:solidFill>
                        </a:rPr>
                        <a:t>+0.262</a:t>
                      </a:r>
                    </a:p>
                  </a:txBody>
                  <a:tcPr marT="18000" marB="18000"/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3857"/>
                          </a:solidFill>
                        </a:rPr>
                        <a:t>shiftsq_c0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3857"/>
                          </a:solidFill>
                        </a:rPr>
                        <a:t>1.106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3857"/>
                          </a:solidFill>
                        </a:rPr>
                        <a:t>0.786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3857"/>
                          </a:solidFill>
                        </a:rPr>
                        <a:t>0.996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3857"/>
                          </a:solidFill>
                        </a:rPr>
                        <a:t>+2.809</a:t>
                      </a:r>
                    </a:p>
                  </a:txBody>
                  <a:tcPr marT="18000" marB="18000"/>
                </a:tc>
              </a:tr>
              <a:tr h="39189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8A2B2B"/>
                          </a:solidFill>
                        </a:rPr>
                        <a:t>shiftsq_c3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8A2B2B"/>
                          </a:solidFill>
                        </a:rPr>
                        <a:t>0.794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8A2B2B"/>
                          </a:solidFill>
                        </a:rPr>
                        <a:t>0.786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8A2B2B"/>
                          </a:solidFill>
                        </a:rPr>
                        <a:t>0.782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8A2B2B"/>
                          </a:solidFill>
                        </a:rPr>
                        <a:t>+2.359</a:t>
                      </a:r>
                    </a:p>
                  </a:txBody>
                  <a:tcPr marT="18000" marB="18000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8463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857"/>
                </a:solidFill>
              </a:rPr>
              <a:t>•  mono3: real misspecification (1.110 → 0.976), no BO gain (+0.081).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32180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857"/>
                </a:solidFill>
              </a:rPr>
              <a:t>•  shiftsq_c3: no misspecification (0.794 → 0.782), huge BO gain (+2.359).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797296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F6B"/>
                </a:solidFill>
              </a:rPr>
              <a:t>•  Average predictive accuracy and optimisation gain are decoupled. What matters is resolution at the optimum.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857"/>
                </a:solidFill>
              </a:rPr>
              <a:t>The same maps, as one of two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F6B"/>
                </a:solidFill>
              </a:rPr>
              <a:t>f₁ = g₁(h₁),  f₂ = h₂  — measured by hypervolume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55F6B"/>
                </a:solidFill>
              </a:rPr>
              <a:t>•  Objective 2 is the identity, so both arms model it with the same GP and every difference has to come from g₁ — the same isolation the single-objective design uses.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55F6B"/>
                </a:solidFill>
              </a:rPr>
              <a:t>•  21 maps × 4 draws × 5 designs. 17 of the 21 are the SAME functions measured single-objective, verified identical to machine precision.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91839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857"/>
                </a:solidFill>
              </a:rPr>
              <a:t>•  So the two settings can be compared map by map.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857"/>
                </a:solidFill>
              </a:rPr>
              <a:t>Two-objective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F6B"/>
                </a:solidFill>
              </a:rPr>
              <a:t>top 10 of 21 by gain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45920" y="1737360"/>
          <a:ext cx="88696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7420"/>
                <a:gridCol w="2217420"/>
                <a:gridCol w="2217420"/>
                <a:gridCol w="2217420"/>
              </a:tblGrid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Problem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Bijective?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HV gain %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p</a:t>
                      </a:r>
                    </a:p>
                  </a:txBody>
                  <a:tcPr marT="18000" marB="18000"/>
                </a:tc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857"/>
                          </a:solidFill>
                        </a:rPr>
                        <a:t>root5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857"/>
                          </a:solidFill>
                        </a:rPr>
                        <a:t>no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+31.24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0.013</a:t>
                      </a:r>
                    </a:p>
                  </a:txBody>
                  <a:tcPr marT="18000" marB="18000"/>
                </a:tc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857"/>
                          </a:solidFill>
                        </a:rPr>
                        <a:t>root3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857"/>
                          </a:solidFill>
                        </a:rPr>
                        <a:t>no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+5.28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0.024</a:t>
                      </a:r>
                    </a:p>
                  </a:txBody>
                  <a:tcPr marT="18000" marB="18000"/>
                </a:tc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857"/>
                          </a:solidFill>
                        </a:rPr>
                        <a:t>spr2s050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857"/>
                          </a:solidFill>
                        </a:rPr>
                        <a:t>no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+4.15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0.009</a:t>
                      </a:r>
                    </a:p>
                  </a:txBody>
                  <a:tcPr marT="18000" marB="18000"/>
                </a:tc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857"/>
                          </a:solidFill>
                        </a:rPr>
                        <a:t>shiftsq_c0.5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857"/>
                          </a:solidFill>
                        </a:rPr>
                        <a:t>no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+3.53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0.048</a:t>
                      </a:r>
                    </a:p>
                  </a:txBody>
                  <a:tcPr marT="18000" marB="18000"/>
                </a:tc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857"/>
                          </a:solidFill>
                        </a:rPr>
                        <a:t>mono5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857"/>
                          </a:solidFill>
                        </a:rPr>
                        <a:t>yes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+2.91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0.160</a:t>
                      </a:r>
                    </a:p>
                  </a:txBody>
                  <a:tcPr marT="18000" marB="18000"/>
                </a:tc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857"/>
                          </a:solidFill>
                        </a:rPr>
                        <a:t>shiftsq_c0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857"/>
                          </a:solidFill>
                        </a:rPr>
                        <a:t>no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+2.70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0.023</a:t>
                      </a:r>
                    </a:p>
                  </a:txBody>
                  <a:tcPr marT="18000" marB="18000"/>
                </a:tc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857"/>
                          </a:solidFill>
                        </a:rPr>
                        <a:t>cos_w2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857"/>
                          </a:solidFill>
                        </a:rPr>
                        <a:t>no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+2.01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0.014</a:t>
                      </a:r>
                    </a:p>
                  </a:txBody>
                  <a:tcPr marT="18000" marB="18000"/>
                </a:tc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857"/>
                          </a:solidFill>
                        </a:rPr>
                        <a:t>shiftsq_c3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857"/>
                          </a:solidFill>
                        </a:rPr>
                        <a:t>no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+1.69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0.082</a:t>
                      </a:r>
                    </a:p>
                  </a:txBody>
                  <a:tcPr marT="18000" marB="18000"/>
                </a:tc>
              </a:tr>
              <a:tr h="34913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857"/>
                          </a:solidFill>
                        </a:rPr>
                        <a:t>spr3s050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857"/>
                          </a:solidFill>
                        </a:rPr>
                        <a:t>no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+1.59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0.141</a:t>
                      </a:r>
                    </a:p>
                  </a:txBody>
                  <a:tcPr marT="18000" marB="18000"/>
                </a:tc>
              </a:tr>
              <a:tr h="3491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857"/>
                          </a:solidFill>
                        </a:rPr>
                        <a:t>mono3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3857"/>
                          </a:solidFill>
                        </a:rPr>
                        <a:t>yes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+1.58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F3857"/>
                          </a:solidFill>
                        </a:rPr>
                        <a:t>0.204</a:t>
                      </a:r>
                    </a:p>
                  </a:txBody>
                  <a:tcPr marT="18000" marB="18000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857"/>
                </a:solidFill>
              </a:rPr>
              <a:t>The two settings do not agree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F6B"/>
                </a:solidFill>
              </a:rPr>
              <a:t>the 17 maps measured in both</a:t>
            </a:r>
          </a:p>
        </p:txBody>
      </p:sp>
      <p:pic>
        <p:nvPicPr>
          <p:cNvPr id="4" name="Picture 3" descr="so_vs_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694205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857"/>
                </a:solidFill>
              </a:rPr>
              <a:t>•  Pearson r = −0.19, Spearman ρ = −0.00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95681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B"/>
                </a:solidFill>
              </a:rPr>
              <a:t>(without root5: −0.05, +0.02)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35915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B"/>
                </a:solidFill>
              </a:rPr>
              <a:t>•  root5:  +0.42 regret, +31% HV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6148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B"/>
                </a:solidFill>
              </a:rPr>
              <a:t>•  shiftsq_c2:  +2.78 regret, +0.17% HV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3163824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B"/>
                </a:solidFill>
              </a:rPr>
              <a:t>•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566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857"/>
                </a:solidFill>
              </a:rPr>
              <a:t>•  The plateau measure does not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96849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B"/>
                </a:solidFill>
              </a:rPr>
              <a:t>•  transfer: r = +0.78 single-objective,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437083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857"/>
                </a:solidFill>
              </a:rPr>
              <a:t>•  r = −0.36 against hypervolume.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77316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B"/>
                </a:solidFill>
              </a:rPr>
              <a:t>•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5175504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B"/>
                </a:solidFill>
              </a:rPr>
              <a:t>•  shiftsq_c3: 1st of 17 by regret,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5577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B"/>
                </a:solidFill>
              </a:rPr>
              <a:t>•  8th of 21 by hypervolume.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857"/>
                </a:solidFill>
              </a:rPr>
              <a:t>What survives, and one trap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1645920"/>
          <a:ext cx="99669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2320"/>
                <a:gridCol w="3322320"/>
                <a:gridCol w="3322320"/>
              </a:tblGrid>
              <a:tr h="457200">
                <a:tc>
                  <a:txBody>
                    <a:bodyPr/>
                    <a:lstStyle/>
                    <a:p>
                      <a:pPr algn="l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Single objective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Multi objective</a:t>
                      </a:r>
                    </a:p>
                  </a:txBody>
                  <a:tcPr marT="18000" marB="18000"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3857"/>
                          </a:solidFill>
                        </a:rPr>
                        <a:t>bijective (n=5)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3857"/>
                          </a:solidFill>
                        </a:rPr>
                        <a:t>+0.07,  0 of 5 significant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3857"/>
                          </a:solidFill>
                        </a:rPr>
                        <a:t>+1.09%,  0 of 5 significant</a:t>
                      </a:r>
                    </a:p>
                  </a:txBody>
                  <a:tcPr marT="18000" marB="18000"/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3857"/>
                          </a:solidFill>
                        </a:rPr>
                        <a:t>not bijective (n=12)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3857"/>
                          </a:solidFill>
                        </a:rPr>
                        <a:t>+1.84,  11 of 12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3857"/>
                          </a:solidFill>
                        </a:rPr>
                        <a:t>+4.06%,  5 of 12</a:t>
                      </a:r>
                    </a:p>
                  </a:txBody>
                  <a:tcPr marT="18000" marB="18000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33832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857"/>
                </a:solidFill>
              </a:rPr>
              <a:t>•  The grouping carries over — same direction, much weaker. The qualitative prediction survives; the quantitative structure behind it does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22452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857"/>
                </a:solidFill>
              </a:rPr>
              <a:t>•  root5's +31% is a scale artefact. Its objective stays extremely heavy-tailed after percentile normalisation (ratio 256 against a typical 2–10), so one lucky evaluation moves the hypervolume.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065776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857"/>
                </a:solidFill>
              </a:rPr>
              <a:t>•  And it nearly fooled the analysis: tail-heaviness appears to explain the gains at r = +0.94 — which collapses to −0.02 once that single point is removed.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857"/>
                </a:solidFill>
              </a:rPr>
              <a:t>What this 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857"/>
                </a:solidFill>
              </a:rPr>
              <a:t>•  The proposition's prediction holds. Bijective g: no gain, in all 5 cases. Non-bijective g: a gain every time. The same split appears with two objectives, weaker.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231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857"/>
                </a:solidFill>
              </a:rPr>
              <a:t>•  Its stated reason does not. n̄ is uncorrelated with the gain: sum destroys information and gains nothing, root3 and root5 have the highest n̄ in their group and the smallest gains in it, and shiftsq_c3 hides almost nothing and gains a great deal.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291839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857"/>
                </a:solidFill>
              </a:rPr>
              <a:t>•  The operative property is flatness of g at its optimum — in the single-objective setting. Bijectivity predicts the gain because it rules that 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1605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857"/>
                </a:solidFill>
              </a:rPr>
              <a:t>•  None of the magnitudes survive two objectives: gains uncorrelated with the single-objective ones, and the plateau measure stops working.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0292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857"/>
                </a:solidFill>
              </a:rPr>
              <a:t>•  The earlier three-channel decomposition is withdrawn — it was measured on a grid where Composite held the true kernel.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8978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857"/>
                </a:solidFill>
              </a:rPr>
              <a:t>•  Still open: cos_w4 — most preimages of any map, has a plateau, gains nothing. Likely ω·sd(h) spanning most of a half-period.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